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embeddedFontLst>
    <p:embeddedFont>
      <p:font typeface="Adumu Regular" panose="020B0604020202020204" charset="0"/>
      <p:regular r:id="rId11"/>
    </p:embeddedFont>
    <p:embeddedFont>
      <p:font typeface="Comic Sans" panose="020B0604020202020204" charset="0"/>
      <p:regular r:id="rId12"/>
    </p:embeddedFont>
    <p:embeddedFont>
      <p:font typeface="Comic Sans Bold" panose="020B0604020202020204" charset="0"/>
      <p:regular r:id="rId13"/>
    </p:embeddedFont>
    <p:embeddedFont>
      <p:font typeface="Leckerli One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5" d="100"/>
          <a:sy n="55" d="100"/>
        </p:scale>
        <p:origin x="710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svg"/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12" Type="http://schemas.openxmlformats.org/officeDocument/2006/relationships/image" Target="../media/image19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openxmlformats.org/officeDocument/2006/relationships/image" Target="../media/image18.svg"/><Relationship Id="rId5" Type="http://schemas.openxmlformats.org/officeDocument/2006/relationships/image" Target="../media/image12.sv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svg"/><Relationship Id="rId7" Type="http://schemas.openxmlformats.org/officeDocument/2006/relationships/image" Target="../media/image26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11" Type="http://schemas.openxmlformats.org/officeDocument/2006/relationships/image" Target="../media/image30.svg"/><Relationship Id="rId5" Type="http://schemas.openxmlformats.org/officeDocument/2006/relationships/image" Target="../media/image24.sv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7" Type="http://schemas.openxmlformats.org/officeDocument/2006/relationships/image" Target="../media/image36.sv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34.svg"/><Relationship Id="rId4" Type="http://schemas.openxmlformats.org/officeDocument/2006/relationships/image" Target="../media/image3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9.svg"/><Relationship Id="rId7" Type="http://schemas.openxmlformats.org/officeDocument/2006/relationships/image" Target="../media/image43.sv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5" Type="http://schemas.openxmlformats.org/officeDocument/2006/relationships/image" Target="../media/image41.svg"/><Relationship Id="rId4" Type="http://schemas.openxmlformats.org/officeDocument/2006/relationships/image" Target="../media/image40.png"/><Relationship Id="rId9" Type="http://schemas.openxmlformats.org/officeDocument/2006/relationships/image" Target="../media/image45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2.svg"/><Relationship Id="rId7" Type="http://schemas.openxmlformats.org/officeDocument/2006/relationships/image" Target="../media/image49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.png"/><Relationship Id="rId5" Type="http://schemas.openxmlformats.org/officeDocument/2006/relationships/image" Target="../media/image47.svg"/><Relationship Id="rId4" Type="http://schemas.openxmlformats.org/officeDocument/2006/relationships/image" Target="../media/image46.png"/><Relationship Id="rId9" Type="http://schemas.openxmlformats.org/officeDocument/2006/relationships/image" Target="../media/image51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53.svg"/><Relationship Id="rId7" Type="http://schemas.openxmlformats.org/officeDocument/2006/relationships/image" Target="../media/image57.sv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6.png"/><Relationship Id="rId5" Type="http://schemas.openxmlformats.org/officeDocument/2006/relationships/image" Target="../media/image55.svg"/><Relationship Id="rId4" Type="http://schemas.openxmlformats.org/officeDocument/2006/relationships/image" Target="../media/image54.png"/><Relationship Id="rId9" Type="http://schemas.openxmlformats.org/officeDocument/2006/relationships/image" Target="../media/image59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13" Type="http://schemas.openxmlformats.org/officeDocument/2006/relationships/image" Target="../media/image69.svg"/><Relationship Id="rId3" Type="http://schemas.openxmlformats.org/officeDocument/2006/relationships/image" Target="../media/image53.svg"/><Relationship Id="rId7" Type="http://schemas.openxmlformats.org/officeDocument/2006/relationships/image" Target="../media/image63.svg"/><Relationship Id="rId12" Type="http://schemas.openxmlformats.org/officeDocument/2006/relationships/image" Target="../media/image68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2.png"/><Relationship Id="rId11" Type="http://schemas.openxmlformats.org/officeDocument/2006/relationships/image" Target="../media/image67.svg"/><Relationship Id="rId5" Type="http://schemas.openxmlformats.org/officeDocument/2006/relationships/image" Target="../media/image61.svg"/><Relationship Id="rId10" Type="http://schemas.openxmlformats.org/officeDocument/2006/relationships/image" Target="../media/image66.png"/><Relationship Id="rId4" Type="http://schemas.openxmlformats.org/officeDocument/2006/relationships/image" Target="../media/image60.png"/><Relationship Id="rId9" Type="http://schemas.openxmlformats.org/officeDocument/2006/relationships/image" Target="../media/image6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884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695010" y="-326959"/>
            <a:ext cx="19678020" cy="10940917"/>
            <a:chOff x="0" y="0"/>
            <a:chExt cx="26237360" cy="145878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587890" cy="14587890"/>
            </a:xfrm>
            <a:custGeom>
              <a:avLst/>
              <a:gdLst/>
              <a:ahLst/>
              <a:cxnLst/>
              <a:rect l="l" t="t" r="r" b="b"/>
              <a:pathLst>
                <a:path w="14587890" h="14587890">
                  <a:moveTo>
                    <a:pt x="0" y="0"/>
                  </a:moveTo>
                  <a:lnTo>
                    <a:pt x="14587890" y="0"/>
                  </a:lnTo>
                  <a:lnTo>
                    <a:pt x="14587890" y="14587890"/>
                  </a:lnTo>
                  <a:lnTo>
                    <a:pt x="0" y="145878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11649471" y="0"/>
              <a:ext cx="14587890" cy="14587890"/>
            </a:xfrm>
            <a:custGeom>
              <a:avLst/>
              <a:gdLst/>
              <a:ahLst/>
              <a:cxnLst/>
              <a:rect l="l" t="t" r="r" b="b"/>
              <a:pathLst>
                <a:path w="14587890" h="14587890">
                  <a:moveTo>
                    <a:pt x="0" y="0"/>
                  </a:moveTo>
                  <a:lnTo>
                    <a:pt x="14587889" y="0"/>
                  </a:lnTo>
                  <a:lnTo>
                    <a:pt x="14587889" y="14587890"/>
                  </a:lnTo>
                  <a:lnTo>
                    <a:pt x="0" y="145878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-911461" y="8285165"/>
            <a:ext cx="20426207" cy="3086100"/>
            <a:chOff x="0" y="0"/>
            <a:chExt cx="5379742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379742" cy="812800"/>
            </a:xfrm>
            <a:custGeom>
              <a:avLst/>
              <a:gdLst/>
              <a:ahLst/>
              <a:cxnLst/>
              <a:rect l="l" t="t" r="r" b="b"/>
              <a:pathLst>
                <a:path w="5379742" h="812800">
                  <a:moveTo>
                    <a:pt x="0" y="0"/>
                  </a:moveTo>
                  <a:lnTo>
                    <a:pt x="5379742" y="0"/>
                  </a:lnTo>
                  <a:lnTo>
                    <a:pt x="5379742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8B594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5379742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16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-2117144" y="4209252"/>
            <a:ext cx="8092541" cy="8151827"/>
          </a:xfrm>
          <a:custGeom>
            <a:avLst/>
            <a:gdLst/>
            <a:ahLst/>
            <a:cxnLst/>
            <a:rect l="l" t="t" r="r" b="b"/>
            <a:pathLst>
              <a:path w="8092541" h="8151827">
                <a:moveTo>
                  <a:pt x="0" y="0"/>
                </a:moveTo>
                <a:lnTo>
                  <a:pt x="8092541" y="0"/>
                </a:lnTo>
                <a:lnTo>
                  <a:pt x="8092541" y="8151827"/>
                </a:lnTo>
                <a:lnTo>
                  <a:pt x="0" y="81518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flipH="1">
            <a:off x="11779039" y="3641161"/>
            <a:ext cx="8253164" cy="8374982"/>
          </a:xfrm>
          <a:custGeom>
            <a:avLst/>
            <a:gdLst/>
            <a:ahLst/>
            <a:cxnLst/>
            <a:rect l="l" t="t" r="r" b="b"/>
            <a:pathLst>
              <a:path w="8253164" h="8374982">
                <a:moveTo>
                  <a:pt x="8253163" y="0"/>
                </a:moveTo>
                <a:lnTo>
                  <a:pt x="0" y="0"/>
                </a:lnTo>
                <a:lnTo>
                  <a:pt x="0" y="8374982"/>
                </a:lnTo>
                <a:lnTo>
                  <a:pt x="8253163" y="8374982"/>
                </a:lnTo>
                <a:lnTo>
                  <a:pt x="825316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84621">
            <a:off x="6297668" y="6593166"/>
            <a:ext cx="5692664" cy="3767509"/>
          </a:xfrm>
          <a:custGeom>
            <a:avLst/>
            <a:gdLst/>
            <a:ahLst/>
            <a:cxnLst/>
            <a:rect l="l" t="t" r="r" b="b"/>
            <a:pathLst>
              <a:path w="5692664" h="3767509">
                <a:moveTo>
                  <a:pt x="0" y="0"/>
                </a:moveTo>
                <a:lnTo>
                  <a:pt x="5692664" y="0"/>
                </a:lnTo>
                <a:lnTo>
                  <a:pt x="5692664" y="3767509"/>
                </a:lnTo>
                <a:lnTo>
                  <a:pt x="0" y="376750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482527" y="441792"/>
            <a:ext cx="15507009" cy="30784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40"/>
              </a:lnSpc>
            </a:pPr>
            <a:r>
              <a:rPr lang="en-US" sz="12629">
                <a:solidFill>
                  <a:srgbClr val="423000"/>
                </a:solidFill>
                <a:latin typeface="Adumu Regular"/>
                <a:ea typeface="Adumu Regular"/>
                <a:cs typeface="Adumu Regular"/>
                <a:sym typeface="Adumu Regular"/>
              </a:rPr>
              <a:t>Credit card fraud detection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179441" y="3793561"/>
            <a:ext cx="8604017" cy="17953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7"/>
              </a:lnSpc>
            </a:pPr>
            <a:r>
              <a:rPr lang="en-US" sz="5199">
                <a:solidFill>
                  <a:srgbClr val="EDE9DD"/>
                </a:solidFill>
                <a:latin typeface="Leckerli One"/>
                <a:ea typeface="Leckerli One"/>
                <a:cs typeface="Leckerli One"/>
                <a:sym typeface="Leckerli One"/>
              </a:rPr>
              <a:t>By Argha Sarkar</a:t>
            </a:r>
          </a:p>
          <a:p>
            <a:pPr algn="ctr">
              <a:lnSpc>
                <a:spcPts val="4627"/>
              </a:lnSpc>
            </a:pPr>
            <a:endParaRPr lang="en-US" sz="5199">
              <a:solidFill>
                <a:srgbClr val="EDE9DD"/>
              </a:solidFill>
              <a:latin typeface="Leckerli One"/>
              <a:ea typeface="Leckerli One"/>
              <a:cs typeface="Leckerli One"/>
              <a:sym typeface="Leckerli One"/>
            </a:endParaRPr>
          </a:p>
          <a:p>
            <a:pPr algn="ctr">
              <a:lnSpc>
                <a:spcPts val="4627"/>
              </a:lnSpc>
            </a:pPr>
            <a:r>
              <a:rPr lang="en-US" sz="5199">
                <a:solidFill>
                  <a:srgbClr val="EDE9DD"/>
                </a:solidFill>
                <a:latin typeface="Leckerli One"/>
                <a:ea typeface="Leckerli One"/>
                <a:cs typeface="Leckerli One"/>
                <a:sym typeface="Leckerli One"/>
              </a:rPr>
              <a:t>Guide by Ms.Naina Devi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9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647385" y="-326959"/>
            <a:ext cx="19678020" cy="10940917"/>
            <a:chOff x="0" y="0"/>
            <a:chExt cx="26237360" cy="145878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587890" cy="14587890"/>
            </a:xfrm>
            <a:custGeom>
              <a:avLst/>
              <a:gdLst/>
              <a:ahLst/>
              <a:cxnLst/>
              <a:rect l="l" t="t" r="r" b="b"/>
              <a:pathLst>
                <a:path w="14587890" h="14587890">
                  <a:moveTo>
                    <a:pt x="0" y="0"/>
                  </a:moveTo>
                  <a:lnTo>
                    <a:pt x="14587890" y="0"/>
                  </a:lnTo>
                  <a:lnTo>
                    <a:pt x="14587890" y="14587890"/>
                  </a:lnTo>
                  <a:lnTo>
                    <a:pt x="0" y="145878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11649471" y="0"/>
              <a:ext cx="14587890" cy="14587890"/>
            </a:xfrm>
            <a:custGeom>
              <a:avLst/>
              <a:gdLst/>
              <a:ahLst/>
              <a:cxnLst/>
              <a:rect l="l" t="t" r="r" b="b"/>
              <a:pathLst>
                <a:path w="14587890" h="14587890">
                  <a:moveTo>
                    <a:pt x="0" y="0"/>
                  </a:moveTo>
                  <a:lnTo>
                    <a:pt x="14587889" y="0"/>
                  </a:lnTo>
                  <a:lnTo>
                    <a:pt x="14587889" y="14587890"/>
                  </a:lnTo>
                  <a:lnTo>
                    <a:pt x="0" y="145878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-911461" y="8285165"/>
            <a:ext cx="20426207" cy="3086100"/>
            <a:chOff x="0" y="0"/>
            <a:chExt cx="5379742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379742" cy="812800"/>
            </a:xfrm>
            <a:custGeom>
              <a:avLst/>
              <a:gdLst/>
              <a:ahLst/>
              <a:cxnLst/>
              <a:rect l="l" t="t" r="r" b="b"/>
              <a:pathLst>
                <a:path w="5379742" h="812800">
                  <a:moveTo>
                    <a:pt x="0" y="0"/>
                  </a:moveTo>
                  <a:lnTo>
                    <a:pt x="5379742" y="0"/>
                  </a:lnTo>
                  <a:lnTo>
                    <a:pt x="5379742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544013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5379742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16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312897" y="1982636"/>
            <a:ext cx="7887800" cy="5314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8149" lvl="1" indent="-324074" algn="l">
              <a:lnSpc>
                <a:spcPts val="4202"/>
              </a:lnSpc>
              <a:buAutoNum type="arabicPeriod"/>
            </a:pPr>
            <a:r>
              <a:rPr lang="en-US" sz="3002" b="1">
                <a:solidFill>
                  <a:srgbClr val="544013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Introduction</a:t>
            </a:r>
          </a:p>
          <a:p>
            <a:pPr marL="648149" lvl="1" indent="-324074" algn="l">
              <a:lnSpc>
                <a:spcPts val="4202"/>
              </a:lnSpc>
              <a:buAutoNum type="arabicPeriod"/>
            </a:pPr>
            <a:r>
              <a:rPr lang="en-US" sz="3002" b="1">
                <a:solidFill>
                  <a:srgbClr val="544013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Tools and Technologies</a:t>
            </a:r>
          </a:p>
          <a:p>
            <a:pPr marL="648149" lvl="1" indent="-324074" algn="l">
              <a:lnSpc>
                <a:spcPts val="4202"/>
              </a:lnSpc>
              <a:buAutoNum type="arabicPeriod"/>
            </a:pPr>
            <a:r>
              <a:rPr lang="en-US" sz="3002" b="1">
                <a:solidFill>
                  <a:srgbClr val="544013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Project Working (Output Screenshot)</a:t>
            </a:r>
          </a:p>
          <a:p>
            <a:pPr marL="648149" lvl="1" indent="-324074" algn="l">
              <a:lnSpc>
                <a:spcPts val="4202"/>
              </a:lnSpc>
              <a:buAutoNum type="arabicPeriod"/>
            </a:pPr>
            <a:r>
              <a:rPr lang="en-US" sz="3002" b="1">
                <a:solidFill>
                  <a:srgbClr val="544013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Applications</a:t>
            </a:r>
          </a:p>
          <a:p>
            <a:pPr marL="648149" lvl="1" indent="-324074" algn="l">
              <a:lnSpc>
                <a:spcPts val="4202"/>
              </a:lnSpc>
              <a:buAutoNum type="arabicPeriod"/>
            </a:pPr>
            <a:r>
              <a:rPr lang="en-US" sz="3002" b="1">
                <a:solidFill>
                  <a:srgbClr val="544013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Problems Faced &amp; Solutions</a:t>
            </a:r>
          </a:p>
          <a:p>
            <a:pPr marL="648149" lvl="1" indent="-324074" algn="l">
              <a:lnSpc>
                <a:spcPts val="4202"/>
              </a:lnSpc>
              <a:buAutoNum type="arabicPeriod"/>
            </a:pPr>
            <a:r>
              <a:rPr lang="en-US" sz="3002" b="1">
                <a:solidFill>
                  <a:srgbClr val="544013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Future Scope</a:t>
            </a:r>
          </a:p>
          <a:p>
            <a:pPr marL="648149" lvl="1" indent="-324074" algn="l">
              <a:lnSpc>
                <a:spcPts val="4202"/>
              </a:lnSpc>
              <a:buAutoNum type="arabicPeriod"/>
            </a:pPr>
            <a:r>
              <a:rPr lang="en-US" sz="3002" b="1">
                <a:solidFill>
                  <a:srgbClr val="544013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Project Link</a:t>
            </a:r>
          </a:p>
          <a:p>
            <a:pPr marL="648149" lvl="1" indent="-324074" algn="l">
              <a:lnSpc>
                <a:spcPts val="4202"/>
              </a:lnSpc>
              <a:buAutoNum type="arabicPeriod"/>
            </a:pPr>
            <a:r>
              <a:rPr lang="en-US" sz="3002" b="1">
                <a:solidFill>
                  <a:srgbClr val="544013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Conclusion</a:t>
            </a:r>
          </a:p>
          <a:p>
            <a:pPr marL="648149" lvl="1" indent="-324074" algn="l">
              <a:lnSpc>
                <a:spcPts val="4202"/>
              </a:lnSpc>
              <a:buAutoNum type="arabicPeriod"/>
            </a:pPr>
            <a:r>
              <a:rPr lang="en-US" sz="3002" b="1">
                <a:solidFill>
                  <a:srgbClr val="544013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Thank You</a:t>
            </a:r>
          </a:p>
          <a:p>
            <a:pPr algn="l">
              <a:lnSpc>
                <a:spcPts val="4202"/>
              </a:lnSpc>
            </a:pPr>
            <a:endParaRPr lang="en-US" sz="3002" b="1">
              <a:solidFill>
                <a:srgbClr val="544013"/>
              </a:solidFill>
              <a:latin typeface="Comic Sans Bold"/>
              <a:ea typeface="Comic Sans Bold"/>
              <a:cs typeface="Comic Sans Bold"/>
              <a:sym typeface="Comic Sans Bold"/>
            </a:endParaRPr>
          </a:p>
        </p:txBody>
      </p:sp>
      <p:sp>
        <p:nvSpPr>
          <p:cNvPr id="9" name="Freeform 9"/>
          <p:cNvSpPr/>
          <p:nvPr/>
        </p:nvSpPr>
        <p:spPr>
          <a:xfrm rot="-231294">
            <a:off x="9007700" y="987712"/>
            <a:ext cx="3669389" cy="5606011"/>
          </a:xfrm>
          <a:custGeom>
            <a:avLst/>
            <a:gdLst/>
            <a:ahLst/>
            <a:cxnLst/>
            <a:rect l="l" t="t" r="r" b="b"/>
            <a:pathLst>
              <a:path w="3669389" h="5606011">
                <a:moveTo>
                  <a:pt x="0" y="0"/>
                </a:moveTo>
                <a:lnTo>
                  <a:pt x="3669389" y="0"/>
                </a:lnTo>
                <a:lnTo>
                  <a:pt x="3669389" y="5606011"/>
                </a:lnTo>
                <a:lnTo>
                  <a:pt x="0" y="56060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79080">
            <a:off x="11740617" y="4042987"/>
            <a:ext cx="5477715" cy="3625251"/>
          </a:xfrm>
          <a:custGeom>
            <a:avLst/>
            <a:gdLst/>
            <a:ahLst/>
            <a:cxnLst/>
            <a:rect l="l" t="t" r="r" b="b"/>
            <a:pathLst>
              <a:path w="5477715" h="3625251">
                <a:moveTo>
                  <a:pt x="0" y="0"/>
                </a:moveTo>
                <a:lnTo>
                  <a:pt x="5477715" y="0"/>
                </a:lnTo>
                <a:lnTo>
                  <a:pt x="5477715" y="3625251"/>
                </a:lnTo>
                <a:lnTo>
                  <a:pt x="0" y="362525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4479474" y="6710728"/>
            <a:ext cx="5220231" cy="4593803"/>
          </a:xfrm>
          <a:custGeom>
            <a:avLst/>
            <a:gdLst/>
            <a:ahLst/>
            <a:cxnLst/>
            <a:rect l="l" t="t" r="r" b="b"/>
            <a:pathLst>
              <a:path w="5220231" h="4593803">
                <a:moveTo>
                  <a:pt x="0" y="0"/>
                </a:moveTo>
                <a:lnTo>
                  <a:pt x="5220231" y="0"/>
                </a:lnTo>
                <a:lnTo>
                  <a:pt x="5220231" y="4593803"/>
                </a:lnTo>
                <a:lnTo>
                  <a:pt x="0" y="459380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305508">
            <a:off x="13475" y="8132043"/>
            <a:ext cx="5960989" cy="3392345"/>
          </a:xfrm>
          <a:custGeom>
            <a:avLst/>
            <a:gdLst/>
            <a:ahLst/>
            <a:cxnLst/>
            <a:rect l="l" t="t" r="r" b="b"/>
            <a:pathLst>
              <a:path w="5960989" h="3392345">
                <a:moveTo>
                  <a:pt x="0" y="0"/>
                </a:moveTo>
                <a:lnTo>
                  <a:pt x="5960989" y="0"/>
                </a:lnTo>
                <a:lnTo>
                  <a:pt x="5960989" y="3392345"/>
                </a:lnTo>
                <a:lnTo>
                  <a:pt x="0" y="339234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rot="-262440" flipH="1">
            <a:off x="15133870" y="-726137"/>
            <a:ext cx="4250860" cy="4150385"/>
          </a:xfrm>
          <a:custGeom>
            <a:avLst/>
            <a:gdLst/>
            <a:ahLst/>
            <a:cxnLst/>
            <a:rect l="l" t="t" r="r" b="b"/>
            <a:pathLst>
              <a:path w="4250860" h="4150385">
                <a:moveTo>
                  <a:pt x="4250860" y="0"/>
                </a:moveTo>
                <a:lnTo>
                  <a:pt x="0" y="0"/>
                </a:lnTo>
                <a:lnTo>
                  <a:pt x="0" y="4150385"/>
                </a:lnTo>
                <a:lnTo>
                  <a:pt x="4250860" y="4150385"/>
                </a:lnTo>
                <a:lnTo>
                  <a:pt x="425086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312897" y="561392"/>
            <a:ext cx="6217508" cy="1246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72"/>
              </a:lnSpc>
            </a:pPr>
            <a:r>
              <a:rPr lang="en-US" sz="9519">
                <a:solidFill>
                  <a:srgbClr val="544013"/>
                </a:solidFill>
                <a:latin typeface="Adumu Regular"/>
                <a:ea typeface="Adumu Regular"/>
                <a:cs typeface="Adumu Regular"/>
                <a:sym typeface="Adumu Regular"/>
              </a:rPr>
              <a:t>Agenda :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9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11461" y="8285165"/>
            <a:ext cx="20426207" cy="3086100"/>
            <a:chOff x="0" y="0"/>
            <a:chExt cx="5379742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379742" cy="812800"/>
            </a:xfrm>
            <a:custGeom>
              <a:avLst/>
              <a:gdLst/>
              <a:ahLst/>
              <a:cxnLst/>
              <a:rect l="l" t="t" r="r" b="b"/>
              <a:pathLst>
                <a:path w="5379742" h="812800">
                  <a:moveTo>
                    <a:pt x="0" y="0"/>
                  </a:moveTo>
                  <a:lnTo>
                    <a:pt x="5379742" y="0"/>
                  </a:lnTo>
                  <a:lnTo>
                    <a:pt x="5379742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AF8016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5379742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16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-2977010" y="4722300"/>
            <a:ext cx="7543451" cy="6638237"/>
          </a:xfrm>
          <a:custGeom>
            <a:avLst/>
            <a:gdLst/>
            <a:ahLst/>
            <a:cxnLst/>
            <a:rect l="l" t="t" r="r" b="b"/>
            <a:pathLst>
              <a:path w="7543451" h="6638237">
                <a:moveTo>
                  <a:pt x="0" y="0"/>
                </a:moveTo>
                <a:lnTo>
                  <a:pt x="7543451" y="0"/>
                </a:lnTo>
                <a:lnTo>
                  <a:pt x="7543451" y="6638238"/>
                </a:lnTo>
                <a:lnTo>
                  <a:pt x="0" y="66382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>
            <a:off x="13682163" y="5679457"/>
            <a:ext cx="4958828" cy="5214829"/>
          </a:xfrm>
          <a:custGeom>
            <a:avLst/>
            <a:gdLst/>
            <a:ahLst/>
            <a:cxnLst/>
            <a:rect l="l" t="t" r="r" b="b"/>
            <a:pathLst>
              <a:path w="4958828" h="5214829">
                <a:moveTo>
                  <a:pt x="4958828" y="0"/>
                </a:moveTo>
                <a:lnTo>
                  <a:pt x="0" y="0"/>
                </a:lnTo>
                <a:lnTo>
                  <a:pt x="0" y="5214829"/>
                </a:lnTo>
                <a:lnTo>
                  <a:pt x="4958828" y="5214829"/>
                </a:lnTo>
                <a:lnTo>
                  <a:pt x="495882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994847" y="635877"/>
            <a:ext cx="10613592" cy="21109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71"/>
              </a:lnSpc>
            </a:pPr>
            <a:r>
              <a:rPr lang="en-US" sz="8619">
                <a:solidFill>
                  <a:srgbClr val="544013"/>
                </a:solidFill>
                <a:latin typeface="Adumu Regular"/>
                <a:ea typeface="Adumu Regular"/>
                <a:cs typeface="Adumu Regular"/>
                <a:sym typeface="Adumu Regular"/>
              </a:rPr>
              <a:t>Introduction to the project :</a:t>
            </a:r>
          </a:p>
        </p:txBody>
      </p:sp>
      <p:sp>
        <p:nvSpPr>
          <p:cNvPr id="8" name="Freeform 8"/>
          <p:cNvSpPr/>
          <p:nvPr/>
        </p:nvSpPr>
        <p:spPr>
          <a:xfrm rot="-188685">
            <a:off x="14285664" y="-206116"/>
            <a:ext cx="5520355" cy="5038579"/>
          </a:xfrm>
          <a:custGeom>
            <a:avLst/>
            <a:gdLst/>
            <a:ahLst/>
            <a:cxnLst/>
            <a:rect l="l" t="t" r="r" b="b"/>
            <a:pathLst>
              <a:path w="5520355" h="5038579">
                <a:moveTo>
                  <a:pt x="0" y="0"/>
                </a:moveTo>
                <a:lnTo>
                  <a:pt x="5520355" y="0"/>
                </a:lnTo>
                <a:lnTo>
                  <a:pt x="5520355" y="5038579"/>
                </a:lnTo>
                <a:lnTo>
                  <a:pt x="0" y="503857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95785">
            <a:off x="-1753989" y="-277268"/>
            <a:ext cx="5541186" cy="3667257"/>
          </a:xfrm>
          <a:custGeom>
            <a:avLst/>
            <a:gdLst/>
            <a:ahLst/>
            <a:cxnLst/>
            <a:rect l="l" t="t" r="r" b="b"/>
            <a:pathLst>
              <a:path w="5541186" h="3667257">
                <a:moveTo>
                  <a:pt x="0" y="0"/>
                </a:moveTo>
                <a:lnTo>
                  <a:pt x="5541185" y="0"/>
                </a:lnTo>
                <a:lnTo>
                  <a:pt x="5541185" y="3667257"/>
                </a:lnTo>
                <a:lnTo>
                  <a:pt x="0" y="366725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6163506" y="8285165"/>
            <a:ext cx="5960989" cy="3392345"/>
          </a:xfrm>
          <a:custGeom>
            <a:avLst/>
            <a:gdLst/>
            <a:ahLst/>
            <a:cxnLst/>
            <a:rect l="l" t="t" r="r" b="b"/>
            <a:pathLst>
              <a:path w="5960989" h="3392345">
                <a:moveTo>
                  <a:pt x="0" y="0"/>
                </a:moveTo>
                <a:lnTo>
                  <a:pt x="5960988" y="0"/>
                </a:lnTo>
                <a:lnTo>
                  <a:pt x="5960988" y="3392345"/>
                </a:lnTo>
                <a:lnTo>
                  <a:pt x="0" y="339234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4227951" y="3243656"/>
            <a:ext cx="9832099" cy="17640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42225" lvl="1" indent="-271113" algn="ctr">
              <a:lnSpc>
                <a:spcPts val="3516"/>
              </a:lnSpc>
              <a:buFont typeface="Arial"/>
              <a:buChar char="•"/>
            </a:pPr>
            <a:r>
              <a:rPr lang="en-US" sz="2511" dirty="0">
                <a:solidFill>
                  <a:srgbClr val="544013"/>
                </a:solidFill>
                <a:latin typeface="Comic Sans"/>
                <a:ea typeface="Comic Sans"/>
                <a:cs typeface="Comic Sans"/>
                <a:sym typeface="Comic Sans"/>
              </a:rPr>
              <a:t>Detect fraudulent credit card transactions using AI &amp; ML.</a:t>
            </a:r>
          </a:p>
          <a:p>
            <a:pPr marL="542225" lvl="1" indent="-271113" algn="ctr">
              <a:lnSpc>
                <a:spcPts val="3516"/>
              </a:lnSpc>
              <a:buFont typeface="Arial"/>
              <a:buChar char="•"/>
            </a:pPr>
            <a:r>
              <a:rPr lang="en-US" sz="2511" dirty="0">
                <a:solidFill>
                  <a:srgbClr val="544013"/>
                </a:solidFill>
                <a:latin typeface="Comic Sans"/>
                <a:ea typeface="Comic Sans"/>
                <a:cs typeface="Comic Sans"/>
                <a:sym typeface="Comic Sans"/>
              </a:rPr>
              <a:t> Analyze transaction patterns to classify fraud vs. legitimate.</a:t>
            </a:r>
          </a:p>
          <a:p>
            <a:pPr marL="542225" lvl="1" indent="-271113" algn="ctr">
              <a:lnSpc>
                <a:spcPts val="3516"/>
              </a:lnSpc>
              <a:spcBef>
                <a:spcPct val="0"/>
              </a:spcBef>
              <a:buFont typeface="Arial"/>
              <a:buChar char="•"/>
            </a:pPr>
            <a:r>
              <a:rPr lang="en-US" sz="2511" dirty="0">
                <a:solidFill>
                  <a:srgbClr val="544013"/>
                </a:solidFill>
                <a:latin typeface="Comic Sans"/>
                <a:ea typeface="Comic Sans"/>
                <a:cs typeface="Comic Sans"/>
                <a:sym typeface="Comic Sans"/>
              </a:rPr>
              <a:t>Improve detection accuracy through feature engineering.</a:t>
            </a:r>
          </a:p>
          <a:p>
            <a:pPr algn="ctr">
              <a:lnSpc>
                <a:spcPts val="3516"/>
              </a:lnSpc>
              <a:spcBef>
                <a:spcPct val="0"/>
              </a:spcBef>
            </a:pPr>
            <a:endParaRPr lang="en-US" sz="2511" dirty="0">
              <a:solidFill>
                <a:srgbClr val="544013"/>
              </a:solidFill>
              <a:latin typeface="Comic Sans"/>
              <a:ea typeface="Comic Sans"/>
              <a:cs typeface="Comic Sans"/>
              <a:sym typeface="Comic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9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11461" y="8285165"/>
            <a:ext cx="20426207" cy="3086100"/>
            <a:chOff x="0" y="0"/>
            <a:chExt cx="5379742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379742" cy="812800"/>
            </a:xfrm>
            <a:custGeom>
              <a:avLst/>
              <a:gdLst/>
              <a:ahLst/>
              <a:cxnLst/>
              <a:rect l="l" t="t" r="r" b="b"/>
              <a:pathLst>
                <a:path w="5379742" h="812800">
                  <a:moveTo>
                    <a:pt x="0" y="0"/>
                  </a:moveTo>
                  <a:lnTo>
                    <a:pt x="5379742" y="0"/>
                  </a:lnTo>
                  <a:lnTo>
                    <a:pt x="5379742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AF8016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5379742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16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-1736481" y="4484854"/>
            <a:ext cx="10880481" cy="7200900"/>
          </a:xfrm>
          <a:custGeom>
            <a:avLst/>
            <a:gdLst/>
            <a:ahLst/>
            <a:cxnLst/>
            <a:rect l="l" t="t" r="r" b="b"/>
            <a:pathLst>
              <a:path w="10880481" h="7200900">
                <a:moveTo>
                  <a:pt x="0" y="0"/>
                </a:moveTo>
                <a:lnTo>
                  <a:pt x="10880481" y="0"/>
                </a:lnTo>
                <a:lnTo>
                  <a:pt x="10880481" y="7200900"/>
                </a:lnTo>
                <a:lnTo>
                  <a:pt x="0" y="7200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205866" y="75339"/>
            <a:ext cx="4377446" cy="4409515"/>
          </a:xfrm>
          <a:custGeom>
            <a:avLst/>
            <a:gdLst/>
            <a:ahLst/>
            <a:cxnLst/>
            <a:rect l="l" t="t" r="r" b="b"/>
            <a:pathLst>
              <a:path w="4377446" h="4409515">
                <a:moveTo>
                  <a:pt x="0" y="0"/>
                </a:moveTo>
                <a:lnTo>
                  <a:pt x="4377446" y="0"/>
                </a:lnTo>
                <a:lnTo>
                  <a:pt x="4377446" y="4409515"/>
                </a:lnTo>
                <a:lnTo>
                  <a:pt x="0" y="44095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202684">
            <a:off x="13346040" y="7664705"/>
            <a:ext cx="5960989" cy="3392345"/>
          </a:xfrm>
          <a:custGeom>
            <a:avLst/>
            <a:gdLst/>
            <a:ahLst/>
            <a:cxnLst/>
            <a:rect l="l" t="t" r="r" b="b"/>
            <a:pathLst>
              <a:path w="5960989" h="3392345">
                <a:moveTo>
                  <a:pt x="0" y="0"/>
                </a:moveTo>
                <a:lnTo>
                  <a:pt x="5960989" y="0"/>
                </a:lnTo>
                <a:lnTo>
                  <a:pt x="5960989" y="3392345"/>
                </a:lnTo>
                <a:lnTo>
                  <a:pt x="0" y="33923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8659313" y="402689"/>
            <a:ext cx="9183921" cy="2209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72"/>
              </a:lnSpc>
            </a:pPr>
            <a:r>
              <a:rPr lang="en-US" sz="9070">
                <a:solidFill>
                  <a:srgbClr val="544013"/>
                </a:solidFill>
                <a:latin typeface="Adumu Regular"/>
                <a:ea typeface="Adumu Regular"/>
                <a:cs typeface="Adumu Regular"/>
                <a:sym typeface="Adumu Regular"/>
              </a:rPr>
              <a:t>Tools and Technologies :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491149" y="3100865"/>
            <a:ext cx="7835385" cy="3292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74921" lvl="1" indent="-337461" algn="l">
              <a:lnSpc>
                <a:spcPts val="4376"/>
              </a:lnSpc>
              <a:buFont typeface="Arial"/>
              <a:buChar char="•"/>
            </a:pPr>
            <a:r>
              <a:rPr lang="en-US" sz="3126" b="1" spc="-146">
                <a:solidFill>
                  <a:srgbClr val="544013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Language</a:t>
            </a:r>
            <a:r>
              <a:rPr lang="en-US" sz="3126" spc="-146">
                <a:solidFill>
                  <a:srgbClr val="544013"/>
                </a:solidFill>
                <a:latin typeface="Comic Sans"/>
                <a:ea typeface="Comic Sans"/>
                <a:cs typeface="Comic Sans"/>
                <a:sym typeface="Comic Sans"/>
              </a:rPr>
              <a:t>: Python</a:t>
            </a:r>
          </a:p>
          <a:p>
            <a:pPr marL="674921" lvl="1" indent="-337461" algn="l">
              <a:lnSpc>
                <a:spcPts val="4376"/>
              </a:lnSpc>
              <a:buFont typeface="Arial"/>
              <a:buChar char="•"/>
            </a:pPr>
            <a:r>
              <a:rPr lang="en-US" sz="3126" b="1" spc="-146">
                <a:solidFill>
                  <a:srgbClr val="544013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Libraries</a:t>
            </a:r>
            <a:r>
              <a:rPr lang="en-US" sz="3126" spc="-146">
                <a:solidFill>
                  <a:srgbClr val="544013"/>
                </a:solidFill>
                <a:latin typeface="Comic Sans"/>
                <a:ea typeface="Comic Sans"/>
                <a:cs typeface="Comic Sans"/>
                <a:sym typeface="Comic Sans"/>
              </a:rPr>
              <a:t>: Pandas, NumPy, Scikit-learn, Matplotlib, Streamlit, Joblib</a:t>
            </a:r>
          </a:p>
          <a:p>
            <a:pPr marL="674921" lvl="1" indent="-337461" algn="l">
              <a:lnSpc>
                <a:spcPts val="4376"/>
              </a:lnSpc>
              <a:buFont typeface="Arial"/>
              <a:buChar char="•"/>
            </a:pPr>
            <a:r>
              <a:rPr lang="en-US" sz="3126" b="1" spc="-146">
                <a:solidFill>
                  <a:srgbClr val="544013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Environment</a:t>
            </a:r>
            <a:r>
              <a:rPr lang="en-US" sz="3126" spc="-146">
                <a:solidFill>
                  <a:srgbClr val="544013"/>
                </a:solidFill>
                <a:latin typeface="Comic Sans"/>
                <a:ea typeface="Comic Sans"/>
                <a:cs typeface="Comic Sans"/>
                <a:sym typeface="Comic Sans"/>
              </a:rPr>
              <a:t>: VS Code</a:t>
            </a:r>
          </a:p>
          <a:p>
            <a:pPr marL="674921" lvl="1" indent="-337461" algn="l">
              <a:lnSpc>
                <a:spcPts val="4376"/>
              </a:lnSpc>
              <a:buFont typeface="Arial"/>
              <a:buChar char="•"/>
            </a:pPr>
            <a:r>
              <a:rPr lang="en-US" sz="3126" b="1" spc="-146">
                <a:solidFill>
                  <a:srgbClr val="544013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Dataset Source</a:t>
            </a:r>
            <a:r>
              <a:rPr lang="en-US" sz="3126" spc="-146">
                <a:solidFill>
                  <a:srgbClr val="544013"/>
                </a:solidFill>
                <a:latin typeface="Comic Sans"/>
                <a:ea typeface="Comic Sans"/>
                <a:cs typeface="Comic Sans"/>
                <a:sym typeface="Comic Sans"/>
              </a:rPr>
              <a:t>: Kaggle</a:t>
            </a:r>
          </a:p>
          <a:p>
            <a:pPr algn="l">
              <a:lnSpc>
                <a:spcPts val="4376"/>
              </a:lnSpc>
              <a:spcBef>
                <a:spcPct val="0"/>
              </a:spcBef>
            </a:pPr>
            <a:endParaRPr lang="en-US" sz="3126" spc="-146">
              <a:solidFill>
                <a:srgbClr val="544013"/>
              </a:solidFill>
              <a:latin typeface="Comic Sans"/>
              <a:ea typeface="Comic Sans"/>
              <a:cs typeface="Comic Sans"/>
              <a:sym typeface="Comic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884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164884" y="1661284"/>
            <a:ext cx="9802419" cy="7729572"/>
          </a:xfrm>
          <a:custGeom>
            <a:avLst/>
            <a:gdLst/>
            <a:ahLst/>
            <a:cxnLst/>
            <a:rect l="l" t="t" r="r" b="b"/>
            <a:pathLst>
              <a:path w="9802419" h="7729572">
                <a:moveTo>
                  <a:pt x="0" y="0"/>
                </a:moveTo>
                <a:lnTo>
                  <a:pt x="9802419" y="0"/>
                </a:lnTo>
                <a:lnTo>
                  <a:pt x="9802419" y="7729572"/>
                </a:lnTo>
                <a:lnTo>
                  <a:pt x="0" y="77295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029" b="-1771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10639" y="320376"/>
            <a:ext cx="10201972" cy="1116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82"/>
              </a:lnSpc>
            </a:pPr>
            <a:r>
              <a:rPr lang="en-US" sz="8519">
                <a:solidFill>
                  <a:srgbClr val="EDE9DD"/>
                </a:solidFill>
                <a:latin typeface="Adumu Regular"/>
                <a:ea typeface="Adumu Regular"/>
                <a:cs typeface="Adumu Regular"/>
                <a:sym typeface="Adumu Regular"/>
              </a:rPr>
              <a:t>Project working :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-382454" y="1725369"/>
            <a:ext cx="9363439" cy="1332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22074" lvl="1" indent="-411037" algn="l">
              <a:lnSpc>
                <a:spcPts val="5330"/>
              </a:lnSpc>
              <a:buFont typeface="Arial"/>
              <a:buChar char="•"/>
            </a:pPr>
            <a:r>
              <a:rPr lang="en-US" sz="3807">
                <a:solidFill>
                  <a:srgbClr val="EDE9DD"/>
                </a:solidFill>
                <a:latin typeface="Comic Sans"/>
                <a:ea typeface="Comic Sans"/>
                <a:cs typeface="Comic Sans"/>
                <a:sym typeface="Comic Sans"/>
              </a:rPr>
              <a:t>Model Classifies transactions as Fraudulent (1) or Legitimate (0)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9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11461" y="8285165"/>
            <a:ext cx="20426207" cy="3086100"/>
            <a:chOff x="0" y="0"/>
            <a:chExt cx="5379742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379742" cy="812800"/>
            </a:xfrm>
            <a:custGeom>
              <a:avLst/>
              <a:gdLst/>
              <a:ahLst/>
              <a:cxnLst/>
              <a:rect l="l" t="t" r="r" b="b"/>
              <a:pathLst>
                <a:path w="5379742" h="812800">
                  <a:moveTo>
                    <a:pt x="0" y="0"/>
                  </a:moveTo>
                  <a:lnTo>
                    <a:pt x="5379742" y="0"/>
                  </a:lnTo>
                  <a:lnTo>
                    <a:pt x="5379742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C85A1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5379742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16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-695010" y="6000464"/>
            <a:ext cx="4499227" cy="4286536"/>
          </a:xfrm>
          <a:custGeom>
            <a:avLst/>
            <a:gdLst/>
            <a:ahLst/>
            <a:cxnLst/>
            <a:rect l="l" t="t" r="r" b="b"/>
            <a:pathLst>
              <a:path w="4499227" h="4286536">
                <a:moveTo>
                  <a:pt x="0" y="0"/>
                </a:moveTo>
                <a:lnTo>
                  <a:pt x="4499227" y="0"/>
                </a:lnTo>
                <a:lnTo>
                  <a:pt x="4499227" y="4286536"/>
                </a:lnTo>
                <a:lnTo>
                  <a:pt x="0" y="42865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3555988" y="6793915"/>
            <a:ext cx="4732012" cy="3493085"/>
          </a:xfrm>
          <a:custGeom>
            <a:avLst/>
            <a:gdLst/>
            <a:ahLst/>
            <a:cxnLst/>
            <a:rect l="l" t="t" r="r" b="b"/>
            <a:pathLst>
              <a:path w="4732012" h="3493085">
                <a:moveTo>
                  <a:pt x="0" y="0"/>
                </a:moveTo>
                <a:lnTo>
                  <a:pt x="4732012" y="0"/>
                </a:lnTo>
                <a:lnTo>
                  <a:pt x="4732012" y="3493085"/>
                </a:lnTo>
                <a:lnTo>
                  <a:pt x="0" y="34930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316981">
            <a:off x="15878008" y="-212811"/>
            <a:ext cx="3536498" cy="2340519"/>
          </a:xfrm>
          <a:custGeom>
            <a:avLst/>
            <a:gdLst/>
            <a:ahLst/>
            <a:cxnLst/>
            <a:rect l="l" t="t" r="r" b="b"/>
            <a:pathLst>
              <a:path w="3536498" h="2340519">
                <a:moveTo>
                  <a:pt x="0" y="0"/>
                </a:moveTo>
                <a:lnTo>
                  <a:pt x="3536498" y="0"/>
                </a:lnTo>
                <a:lnTo>
                  <a:pt x="3536498" y="2340518"/>
                </a:lnTo>
                <a:lnTo>
                  <a:pt x="0" y="234051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140460">
            <a:off x="-1394785" y="-288020"/>
            <a:ext cx="4093594" cy="2329627"/>
          </a:xfrm>
          <a:custGeom>
            <a:avLst/>
            <a:gdLst/>
            <a:ahLst/>
            <a:cxnLst/>
            <a:rect l="l" t="t" r="r" b="b"/>
            <a:pathLst>
              <a:path w="4093594" h="2329627">
                <a:moveTo>
                  <a:pt x="0" y="0"/>
                </a:moveTo>
                <a:lnTo>
                  <a:pt x="4093593" y="0"/>
                </a:lnTo>
                <a:lnTo>
                  <a:pt x="4093593" y="2329627"/>
                </a:lnTo>
                <a:lnTo>
                  <a:pt x="0" y="232962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4107569" y="470612"/>
            <a:ext cx="10072345" cy="9742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77"/>
              </a:lnSpc>
            </a:pPr>
            <a:r>
              <a:rPr lang="en-US" sz="7502">
                <a:solidFill>
                  <a:srgbClr val="423000"/>
                </a:solidFill>
                <a:latin typeface="Adumu Regular"/>
                <a:ea typeface="Adumu Regular"/>
                <a:cs typeface="Adumu Regular"/>
                <a:sym typeface="Adumu Regular"/>
              </a:rPr>
              <a:t>Applications :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233391" y="1878066"/>
            <a:ext cx="13310207" cy="28457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5890" lvl="1" indent="-292945" algn="ctr">
              <a:lnSpc>
                <a:spcPts val="3799"/>
              </a:lnSpc>
              <a:buFont typeface="Arial"/>
              <a:buChar char="•"/>
            </a:pPr>
            <a:r>
              <a:rPr lang="en-US" sz="2713" b="1">
                <a:solidFill>
                  <a:srgbClr val="423000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      </a:t>
            </a:r>
            <a:r>
              <a:rPr lang="en-US" sz="2713" b="1" u="sng">
                <a:solidFill>
                  <a:srgbClr val="423000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Real-time fraud detection</a:t>
            </a:r>
            <a:r>
              <a:rPr lang="en-US" sz="2713" u="sng">
                <a:solidFill>
                  <a:srgbClr val="423000"/>
                </a:solidFill>
                <a:latin typeface="Comic Sans"/>
                <a:ea typeface="Comic Sans"/>
                <a:cs typeface="Comic Sans"/>
                <a:sym typeface="Comic Sans"/>
              </a:rPr>
              <a:t> </a:t>
            </a:r>
            <a:r>
              <a:rPr lang="en-US" sz="2713">
                <a:solidFill>
                  <a:srgbClr val="423000"/>
                </a:solidFill>
                <a:latin typeface="Comic Sans"/>
                <a:ea typeface="Comic Sans"/>
                <a:cs typeface="Comic Sans"/>
                <a:sym typeface="Comic Sans"/>
              </a:rPr>
              <a:t>: The Streamlit app predicts whether  a credit card transaction is fraudulent or legitimate instantly after entering transaction details.</a:t>
            </a:r>
          </a:p>
          <a:p>
            <a:pPr marL="585890" lvl="1" indent="-292945" algn="ctr">
              <a:lnSpc>
                <a:spcPts val="3799"/>
              </a:lnSpc>
              <a:buFont typeface="Arial"/>
              <a:buChar char="•"/>
            </a:pPr>
            <a:r>
              <a:rPr lang="en-US" sz="2713" b="1" u="sng">
                <a:solidFill>
                  <a:srgbClr val="423000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Banking and Financial Institutions</a:t>
            </a:r>
            <a:r>
              <a:rPr lang="en-US" sz="2713">
                <a:solidFill>
                  <a:srgbClr val="423000"/>
                </a:solidFill>
                <a:latin typeface="Comic Sans"/>
                <a:ea typeface="Comic Sans"/>
                <a:cs typeface="Comic Sans"/>
                <a:sym typeface="Comic Sans"/>
              </a:rPr>
              <a:t> : Used by banks to monitor suspicious transactions and reduce financial losses.</a:t>
            </a:r>
          </a:p>
          <a:p>
            <a:pPr algn="ctr">
              <a:lnSpc>
                <a:spcPts val="3799"/>
              </a:lnSpc>
            </a:pPr>
            <a:endParaRPr lang="en-US" sz="2713">
              <a:solidFill>
                <a:srgbClr val="423000"/>
              </a:solidFill>
              <a:latin typeface="Comic Sans"/>
              <a:ea typeface="Comic Sans"/>
              <a:cs typeface="Comic Sans"/>
              <a:sym typeface="Comic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884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695010" y="-326959"/>
            <a:ext cx="19678020" cy="10940917"/>
            <a:chOff x="0" y="0"/>
            <a:chExt cx="26237360" cy="145878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587890" cy="14587890"/>
            </a:xfrm>
            <a:custGeom>
              <a:avLst/>
              <a:gdLst/>
              <a:ahLst/>
              <a:cxnLst/>
              <a:rect l="l" t="t" r="r" b="b"/>
              <a:pathLst>
                <a:path w="14587890" h="14587890">
                  <a:moveTo>
                    <a:pt x="0" y="0"/>
                  </a:moveTo>
                  <a:lnTo>
                    <a:pt x="14587890" y="0"/>
                  </a:lnTo>
                  <a:lnTo>
                    <a:pt x="14587890" y="14587890"/>
                  </a:lnTo>
                  <a:lnTo>
                    <a:pt x="0" y="145878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11649471" y="0"/>
              <a:ext cx="14587890" cy="14587890"/>
            </a:xfrm>
            <a:custGeom>
              <a:avLst/>
              <a:gdLst/>
              <a:ahLst/>
              <a:cxnLst/>
              <a:rect l="l" t="t" r="r" b="b"/>
              <a:pathLst>
                <a:path w="14587890" h="14587890">
                  <a:moveTo>
                    <a:pt x="0" y="0"/>
                  </a:moveTo>
                  <a:lnTo>
                    <a:pt x="14587889" y="0"/>
                  </a:lnTo>
                  <a:lnTo>
                    <a:pt x="14587889" y="14587890"/>
                  </a:lnTo>
                  <a:lnTo>
                    <a:pt x="0" y="145878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-911461" y="8285165"/>
            <a:ext cx="20426207" cy="3086100"/>
            <a:chOff x="0" y="0"/>
            <a:chExt cx="5379742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379742" cy="812800"/>
            </a:xfrm>
            <a:custGeom>
              <a:avLst/>
              <a:gdLst/>
              <a:ahLst/>
              <a:cxnLst/>
              <a:rect l="l" t="t" r="r" b="b"/>
              <a:pathLst>
                <a:path w="5379742" h="812800">
                  <a:moveTo>
                    <a:pt x="0" y="0"/>
                  </a:moveTo>
                  <a:lnTo>
                    <a:pt x="5379742" y="0"/>
                  </a:lnTo>
                  <a:lnTo>
                    <a:pt x="5379742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42300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5379742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16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rot="-216685">
            <a:off x="14834713" y="4835034"/>
            <a:ext cx="6621844" cy="6465328"/>
          </a:xfrm>
          <a:custGeom>
            <a:avLst/>
            <a:gdLst/>
            <a:ahLst/>
            <a:cxnLst/>
            <a:rect l="l" t="t" r="r" b="b"/>
            <a:pathLst>
              <a:path w="6621844" h="6465328">
                <a:moveTo>
                  <a:pt x="0" y="0"/>
                </a:moveTo>
                <a:lnTo>
                  <a:pt x="6621844" y="0"/>
                </a:lnTo>
                <a:lnTo>
                  <a:pt x="6621844" y="6465328"/>
                </a:lnTo>
                <a:lnTo>
                  <a:pt x="0" y="64653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150972">
            <a:off x="-174473" y="7373877"/>
            <a:ext cx="4514268" cy="2987624"/>
          </a:xfrm>
          <a:custGeom>
            <a:avLst/>
            <a:gdLst/>
            <a:ahLst/>
            <a:cxnLst/>
            <a:rect l="l" t="t" r="r" b="b"/>
            <a:pathLst>
              <a:path w="4514268" h="2987624">
                <a:moveTo>
                  <a:pt x="0" y="0"/>
                </a:moveTo>
                <a:lnTo>
                  <a:pt x="4514268" y="0"/>
                </a:lnTo>
                <a:lnTo>
                  <a:pt x="4514268" y="2987624"/>
                </a:lnTo>
                <a:lnTo>
                  <a:pt x="0" y="298762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164518">
            <a:off x="14365801" y="-180982"/>
            <a:ext cx="6187170" cy="3521062"/>
          </a:xfrm>
          <a:custGeom>
            <a:avLst/>
            <a:gdLst/>
            <a:ahLst/>
            <a:cxnLst/>
            <a:rect l="l" t="t" r="r" b="b"/>
            <a:pathLst>
              <a:path w="6187170" h="3521062">
                <a:moveTo>
                  <a:pt x="0" y="0"/>
                </a:moveTo>
                <a:lnTo>
                  <a:pt x="6187171" y="0"/>
                </a:lnTo>
                <a:lnTo>
                  <a:pt x="6187171" y="3521062"/>
                </a:lnTo>
                <a:lnTo>
                  <a:pt x="0" y="352106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251542" y="209980"/>
            <a:ext cx="13584477" cy="9811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77"/>
              </a:lnSpc>
            </a:pPr>
            <a:r>
              <a:rPr lang="en-US" sz="7502">
                <a:solidFill>
                  <a:srgbClr val="EDE9DD"/>
                </a:solidFill>
                <a:latin typeface="Adumu Regular"/>
                <a:ea typeface="Adumu Regular"/>
                <a:cs typeface="Adumu Regular"/>
                <a:sym typeface="Adumu Regular"/>
              </a:rPr>
              <a:t>Problem faced :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0" y="1998616"/>
            <a:ext cx="9017759" cy="2465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5674" lvl="1" indent="-257837" algn="l">
              <a:lnSpc>
                <a:spcPts val="3343"/>
              </a:lnSpc>
              <a:buFont typeface="Arial"/>
              <a:buChar char="•"/>
            </a:pPr>
            <a:r>
              <a:rPr lang="en-US" sz="2388">
                <a:solidFill>
                  <a:srgbClr val="EDE9DD"/>
                </a:solidFill>
                <a:latin typeface="Comic Sans"/>
                <a:ea typeface="Comic Sans"/>
                <a:cs typeface="Comic Sans"/>
                <a:sym typeface="Comic Sans"/>
              </a:rPr>
              <a:t>Imbalanced data : Turned model &amp; improved dataset .</a:t>
            </a:r>
          </a:p>
          <a:p>
            <a:pPr marL="515674" lvl="1" indent="-257837" algn="l">
              <a:lnSpc>
                <a:spcPts val="3343"/>
              </a:lnSpc>
              <a:buFont typeface="Arial"/>
              <a:buChar char="•"/>
            </a:pPr>
            <a:r>
              <a:rPr lang="en-US" sz="2388">
                <a:solidFill>
                  <a:srgbClr val="EDE9DD"/>
                </a:solidFill>
                <a:latin typeface="Comic Sans"/>
                <a:ea typeface="Comic Sans"/>
                <a:cs typeface="Comic Sans"/>
                <a:sym typeface="Comic Sans"/>
              </a:rPr>
              <a:t>High false positive : Added distance &amp; feature engineering . </a:t>
            </a:r>
          </a:p>
          <a:p>
            <a:pPr marL="515674" lvl="1" indent="-257837" algn="l">
              <a:lnSpc>
                <a:spcPts val="3343"/>
              </a:lnSpc>
              <a:buFont typeface="Arial"/>
              <a:buChar char="•"/>
            </a:pPr>
            <a:r>
              <a:rPr lang="en-US" sz="2388">
                <a:solidFill>
                  <a:srgbClr val="EDE9DD"/>
                </a:solidFill>
                <a:latin typeface="Comic Sans"/>
                <a:ea typeface="Comic Sans"/>
                <a:cs typeface="Comic Sans"/>
                <a:sym typeface="Comic Sans"/>
              </a:rPr>
              <a:t>Overfitting : Used cross-validation &amp; regularization .</a:t>
            </a:r>
          </a:p>
          <a:p>
            <a:pPr marL="515674" lvl="1" indent="-257837" algn="l">
              <a:lnSpc>
                <a:spcPts val="3343"/>
              </a:lnSpc>
              <a:buFont typeface="Arial"/>
              <a:buChar char="•"/>
            </a:pPr>
            <a:r>
              <a:rPr lang="en-US" sz="2388">
                <a:solidFill>
                  <a:srgbClr val="EDE9DD"/>
                </a:solidFill>
                <a:latin typeface="Comic Sans"/>
                <a:ea typeface="Comic Sans"/>
                <a:cs typeface="Comic Sans"/>
                <a:sym typeface="Comic Sans"/>
              </a:rPr>
              <a:t>Unseen values : Handled with default encoding(-1) .</a:t>
            </a:r>
          </a:p>
          <a:p>
            <a:pPr marL="515674" lvl="1" indent="-257837" algn="l">
              <a:lnSpc>
                <a:spcPts val="3343"/>
              </a:lnSpc>
              <a:buFont typeface="Arial"/>
              <a:buChar char="•"/>
            </a:pPr>
            <a:r>
              <a:rPr lang="en-US" sz="2388">
                <a:solidFill>
                  <a:srgbClr val="EDE9DD"/>
                </a:solidFill>
                <a:latin typeface="Comic Sans"/>
                <a:ea typeface="Comic Sans"/>
                <a:cs typeface="Comic Sans"/>
                <a:sym typeface="Comic Sans"/>
              </a:rPr>
              <a:t>Input variation : Added validation in Streamlit .</a:t>
            </a:r>
          </a:p>
          <a:p>
            <a:pPr algn="l">
              <a:lnSpc>
                <a:spcPts val="3063"/>
              </a:lnSpc>
            </a:pPr>
            <a:endParaRPr lang="en-US" sz="2388">
              <a:solidFill>
                <a:srgbClr val="EDE9DD"/>
              </a:solidFill>
              <a:latin typeface="Comic Sans"/>
              <a:ea typeface="Comic Sans"/>
              <a:cs typeface="Comic Sans"/>
              <a:sym typeface="Comic Sans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251542" y="1286417"/>
            <a:ext cx="13584477" cy="11606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74"/>
              </a:lnSpc>
            </a:pPr>
            <a:r>
              <a:rPr lang="en-US" sz="4802">
                <a:solidFill>
                  <a:srgbClr val="EDE9DD"/>
                </a:solidFill>
                <a:latin typeface="Adumu Regular"/>
                <a:ea typeface="Adumu Regular"/>
                <a:cs typeface="Adumu Regular"/>
                <a:sym typeface="Adumu Regular"/>
              </a:rPr>
              <a:t>Solution :</a:t>
            </a:r>
          </a:p>
          <a:p>
            <a:pPr algn="l">
              <a:lnSpc>
                <a:spcPts val="4274"/>
              </a:lnSpc>
            </a:pPr>
            <a:endParaRPr lang="en-US" sz="4802">
              <a:solidFill>
                <a:srgbClr val="EDE9DD"/>
              </a:solidFill>
              <a:latin typeface="Adumu Regular"/>
              <a:ea typeface="Adumu Regular"/>
              <a:cs typeface="Adumu Regular"/>
              <a:sym typeface="Adumu Regular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9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695010" y="-326959"/>
            <a:ext cx="19678020" cy="10940917"/>
            <a:chOff x="0" y="0"/>
            <a:chExt cx="26237360" cy="145878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587890" cy="14587890"/>
            </a:xfrm>
            <a:custGeom>
              <a:avLst/>
              <a:gdLst/>
              <a:ahLst/>
              <a:cxnLst/>
              <a:rect l="l" t="t" r="r" b="b"/>
              <a:pathLst>
                <a:path w="14587890" h="14587890">
                  <a:moveTo>
                    <a:pt x="0" y="0"/>
                  </a:moveTo>
                  <a:lnTo>
                    <a:pt x="14587890" y="0"/>
                  </a:lnTo>
                  <a:lnTo>
                    <a:pt x="14587890" y="14587890"/>
                  </a:lnTo>
                  <a:lnTo>
                    <a:pt x="0" y="145878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11649471" y="0"/>
              <a:ext cx="14587890" cy="14587890"/>
            </a:xfrm>
            <a:custGeom>
              <a:avLst/>
              <a:gdLst/>
              <a:ahLst/>
              <a:cxnLst/>
              <a:rect l="l" t="t" r="r" b="b"/>
              <a:pathLst>
                <a:path w="14587890" h="14587890">
                  <a:moveTo>
                    <a:pt x="0" y="0"/>
                  </a:moveTo>
                  <a:lnTo>
                    <a:pt x="14587889" y="0"/>
                  </a:lnTo>
                  <a:lnTo>
                    <a:pt x="14587889" y="14587890"/>
                  </a:lnTo>
                  <a:lnTo>
                    <a:pt x="0" y="145878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-911461" y="8285165"/>
            <a:ext cx="20426207" cy="3086100"/>
            <a:chOff x="0" y="0"/>
            <a:chExt cx="5379742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379742" cy="812800"/>
            </a:xfrm>
            <a:custGeom>
              <a:avLst/>
              <a:gdLst/>
              <a:ahLst/>
              <a:cxnLst/>
              <a:rect l="l" t="t" r="r" b="b"/>
              <a:pathLst>
                <a:path w="5379742" h="812800">
                  <a:moveTo>
                    <a:pt x="0" y="0"/>
                  </a:moveTo>
                  <a:lnTo>
                    <a:pt x="5379742" y="0"/>
                  </a:lnTo>
                  <a:lnTo>
                    <a:pt x="5379742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8B594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5379742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16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flipH="1">
            <a:off x="13455745" y="6572481"/>
            <a:ext cx="6568735" cy="4347309"/>
          </a:xfrm>
          <a:custGeom>
            <a:avLst/>
            <a:gdLst/>
            <a:ahLst/>
            <a:cxnLst/>
            <a:rect l="l" t="t" r="r" b="b"/>
            <a:pathLst>
              <a:path w="6568735" h="4347309">
                <a:moveTo>
                  <a:pt x="6568736" y="0"/>
                </a:moveTo>
                <a:lnTo>
                  <a:pt x="0" y="0"/>
                </a:lnTo>
                <a:lnTo>
                  <a:pt x="0" y="4347308"/>
                </a:lnTo>
                <a:lnTo>
                  <a:pt x="6568736" y="4347308"/>
                </a:lnTo>
                <a:lnTo>
                  <a:pt x="656873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0" y="7791764"/>
            <a:ext cx="5317439" cy="3789884"/>
          </a:xfrm>
          <a:custGeom>
            <a:avLst/>
            <a:gdLst/>
            <a:ahLst/>
            <a:cxnLst/>
            <a:rect l="l" t="t" r="r" b="b"/>
            <a:pathLst>
              <a:path w="5317439" h="3789884">
                <a:moveTo>
                  <a:pt x="0" y="0"/>
                </a:moveTo>
                <a:lnTo>
                  <a:pt x="5317439" y="0"/>
                </a:lnTo>
                <a:lnTo>
                  <a:pt x="5317439" y="3789884"/>
                </a:lnTo>
                <a:lnTo>
                  <a:pt x="0" y="378988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297679">
            <a:off x="15372391" y="-145707"/>
            <a:ext cx="3095001" cy="3021846"/>
          </a:xfrm>
          <a:custGeom>
            <a:avLst/>
            <a:gdLst/>
            <a:ahLst/>
            <a:cxnLst/>
            <a:rect l="l" t="t" r="r" b="b"/>
            <a:pathLst>
              <a:path w="3095001" h="3021846">
                <a:moveTo>
                  <a:pt x="0" y="0"/>
                </a:moveTo>
                <a:lnTo>
                  <a:pt x="3095001" y="0"/>
                </a:lnTo>
                <a:lnTo>
                  <a:pt x="3095001" y="3021846"/>
                </a:lnTo>
                <a:lnTo>
                  <a:pt x="0" y="302184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49285" y="359278"/>
            <a:ext cx="7253192" cy="10041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66"/>
              </a:lnSpc>
            </a:pPr>
            <a:r>
              <a:rPr lang="en-US" sz="7602">
                <a:solidFill>
                  <a:srgbClr val="423000"/>
                </a:solidFill>
                <a:latin typeface="Adumu Regular"/>
                <a:ea typeface="Adumu Regular"/>
                <a:cs typeface="Adumu Regular"/>
                <a:sym typeface="Adumu Regular"/>
              </a:rPr>
              <a:t>Future Scope :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9285" y="1446316"/>
            <a:ext cx="8523073" cy="1516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31742" lvl="1" indent="-315871" algn="l">
              <a:lnSpc>
                <a:spcPts val="4096"/>
              </a:lnSpc>
              <a:buFont typeface="Arial"/>
              <a:buChar char="•"/>
            </a:pPr>
            <a:r>
              <a:rPr lang="en-US" sz="2926">
                <a:solidFill>
                  <a:srgbClr val="423000"/>
                </a:solidFill>
                <a:latin typeface="Comic Sans"/>
                <a:ea typeface="Comic Sans"/>
                <a:cs typeface="Comic Sans"/>
                <a:sym typeface="Comic Sans"/>
              </a:rPr>
              <a:t>Deploy real-time fraud detection system .</a:t>
            </a:r>
          </a:p>
          <a:p>
            <a:pPr marL="631742" lvl="1" indent="-315871" algn="l">
              <a:lnSpc>
                <a:spcPts val="4096"/>
              </a:lnSpc>
              <a:buFont typeface="Arial"/>
              <a:buChar char="•"/>
            </a:pPr>
            <a:r>
              <a:rPr lang="en-US" sz="2926">
                <a:solidFill>
                  <a:srgbClr val="423000"/>
                </a:solidFill>
                <a:latin typeface="Comic Sans"/>
                <a:ea typeface="Comic Sans"/>
                <a:cs typeface="Comic Sans"/>
                <a:sym typeface="Comic Sans"/>
              </a:rPr>
              <a:t>Use Deep Learning (Autoencoders,LSTM) .</a:t>
            </a:r>
          </a:p>
          <a:p>
            <a:pPr marL="631742" lvl="1" indent="-315871" algn="l">
              <a:lnSpc>
                <a:spcPts val="4096"/>
              </a:lnSpc>
              <a:buFont typeface="Arial"/>
              <a:buChar char="•"/>
            </a:pPr>
            <a:r>
              <a:rPr lang="en-US" sz="2926">
                <a:solidFill>
                  <a:srgbClr val="423000"/>
                </a:solidFill>
                <a:latin typeface="Comic Sans"/>
                <a:ea typeface="Comic Sans"/>
                <a:cs typeface="Comic Sans"/>
                <a:sym typeface="Comic Sans"/>
              </a:rPr>
              <a:t>Integrate with mobile payment apps 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9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695010" y="-326959"/>
            <a:ext cx="19678020" cy="10940917"/>
            <a:chOff x="0" y="0"/>
            <a:chExt cx="26237360" cy="145878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587890" cy="14587890"/>
            </a:xfrm>
            <a:custGeom>
              <a:avLst/>
              <a:gdLst/>
              <a:ahLst/>
              <a:cxnLst/>
              <a:rect l="l" t="t" r="r" b="b"/>
              <a:pathLst>
                <a:path w="14587890" h="14587890">
                  <a:moveTo>
                    <a:pt x="0" y="0"/>
                  </a:moveTo>
                  <a:lnTo>
                    <a:pt x="14587890" y="0"/>
                  </a:lnTo>
                  <a:lnTo>
                    <a:pt x="14587890" y="14587890"/>
                  </a:lnTo>
                  <a:lnTo>
                    <a:pt x="0" y="145878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11649471" y="0"/>
              <a:ext cx="14587890" cy="14587890"/>
            </a:xfrm>
            <a:custGeom>
              <a:avLst/>
              <a:gdLst/>
              <a:ahLst/>
              <a:cxnLst/>
              <a:rect l="l" t="t" r="r" b="b"/>
              <a:pathLst>
                <a:path w="14587890" h="14587890">
                  <a:moveTo>
                    <a:pt x="0" y="0"/>
                  </a:moveTo>
                  <a:lnTo>
                    <a:pt x="14587889" y="0"/>
                  </a:lnTo>
                  <a:lnTo>
                    <a:pt x="14587889" y="14587890"/>
                  </a:lnTo>
                  <a:lnTo>
                    <a:pt x="0" y="145878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5" name="Freeform 5"/>
          <p:cNvSpPr/>
          <p:nvPr/>
        </p:nvSpPr>
        <p:spPr>
          <a:xfrm rot="-268746">
            <a:off x="15371315" y="-394186"/>
            <a:ext cx="6494140" cy="3695756"/>
          </a:xfrm>
          <a:custGeom>
            <a:avLst/>
            <a:gdLst/>
            <a:ahLst/>
            <a:cxnLst/>
            <a:rect l="l" t="t" r="r" b="b"/>
            <a:pathLst>
              <a:path w="6494140" h="3695756">
                <a:moveTo>
                  <a:pt x="0" y="0"/>
                </a:moveTo>
                <a:lnTo>
                  <a:pt x="6494140" y="0"/>
                </a:lnTo>
                <a:lnTo>
                  <a:pt x="6494140" y="3695756"/>
                </a:lnTo>
                <a:lnTo>
                  <a:pt x="0" y="36957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435036">
            <a:off x="-630817" y="413866"/>
            <a:ext cx="3027954" cy="2956384"/>
          </a:xfrm>
          <a:custGeom>
            <a:avLst/>
            <a:gdLst/>
            <a:ahLst/>
            <a:cxnLst/>
            <a:rect l="l" t="t" r="r" b="b"/>
            <a:pathLst>
              <a:path w="3027954" h="2956384">
                <a:moveTo>
                  <a:pt x="0" y="0"/>
                </a:moveTo>
                <a:lnTo>
                  <a:pt x="3027953" y="0"/>
                </a:lnTo>
                <a:lnTo>
                  <a:pt x="3027953" y="2956384"/>
                </a:lnTo>
                <a:lnTo>
                  <a:pt x="0" y="295638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-911461" y="8285165"/>
            <a:ext cx="20426207" cy="3086100"/>
            <a:chOff x="0" y="0"/>
            <a:chExt cx="5379742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379742" cy="812800"/>
            </a:xfrm>
            <a:custGeom>
              <a:avLst/>
              <a:gdLst/>
              <a:ahLst/>
              <a:cxnLst/>
              <a:rect l="l" t="t" r="r" b="b"/>
              <a:pathLst>
                <a:path w="5379742" h="812800">
                  <a:moveTo>
                    <a:pt x="0" y="0"/>
                  </a:moveTo>
                  <a:lnTo>
                    <a:pt x="5379742" y="0"/>
                  </a:lnTo>
                  <a:lnTo>
                    <a:pt x="5379742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D8849E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5379742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16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 rot="-128760">
            <a:off x="5542906" y="4566129"/>
            <a:ext cx="7202189" cy="4766539"/>
          </a:xfrm>
          <a:custGeom>
            <a:avLst/>
            <a:gdLst/>
            <a:ahLst/>
            <a:cxnLst/>
            <a:rect l="l" t="t" r="r" b="b"/>
            <a:pathLst>
              <a:path w="7202189" h="4766539">
                <a:moveTo>
                  <a:pt x="0" y="0"/>
                </a:moveTo>
                <a:lnTo>
                  <a:pt x="7202188" y="0"/>
                </a:lnTo>
                <a:lnTo>
                  <a:pt x="7202188" y="4766539"/>
                </a:lnTo>
                <a:lnTo>
                  <a:pt x="0" y="476653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2429399" y="1611216"/>
            <a:ext cx="13429203" cy="2273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95"/>
              </a:lnSpc>
            </a:pPr>
            <a:r>
              <a:rPr lang="en-US" sz="17298">
                <a:solidFill>
                  <a:srgbClr val="423000"/>
                </a:solidFill>
                <a:latin typeface="Adumu Regular"/>
                <a:ea typeface="Adumu Regular"/>
                <a:cs typeface="Adumu Regular"/>
                <a:sym typeface="Adumu Regular"/>
              </a:rPr>
              <a:t>Thank You</a:t>
            </a:r>
          </a:p>
        </p:txBody>
      </p:sp>
      <p:sp>
        <p:nvSpPr>
          <p:cNvPr id="12" name="Freeform 12"/>
          <p:cNvSpPr/>
          <p:nvPr/>
        </p:nvSpPr>
        <p:spPr>
          <a:xfrm flipH="1">
            <a:off x="11855770" y="4042149"/>
            <a:ext cx="8253164" cy="8374982"/>
          </a:xfrm>
          <a:custGeom>
            <a:avLst/>
            <a:gdLst/>
            <a:ahLst/>
            <a:cxnLst/>
            <a:rect l="l" t="t" r="r" b="b"/>
            <a:pathLst>
              <a:path w="8253164" h="8374982">
                <a:moveTo>
                  <a:pt x="8253164" y="0"/>
                </a:moveTo>
                <a:lnTo>
                  <a:pt x="0" y="0"/>
                </a:lnTo>
                <a:lnTo>
                  <a:pt x="0" y="8374981"/>
                </a:lnTo>
                <a:lnTo>
                  <a:pt x="8253164" y="8374981"/>
                </a:lnTo>
                <a:lnTo>
                  <a:pt x="8253164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rot="203150">
            <a:off x="-1152509" y="4087501"/>
            <a:ext cx="7062118" cy="6895195"/>
          </a:xfrm>
          <a:custGeom>
            <a:avLst/>
            <a:gdLst/>
            <a:ahLst/>
            <a:cxnLst/>
            <a:rect l="l" t="t" r="r" b="b"/>
            <a:pathLst>
              <a:path w="7062118" h="6895195">
                <a:moveTo>
                  <a:pt x="0" y="0"/>
                </a:moveTo>
                <a:lnTo>
                  <a:pt x="7062118" y="0"/>
                </a:lnTo>
                <a:lnTo>
                  <a:pt x="7062118" y="6895195"/>
                </a:lnTo>
                <a:lnTo>
                  <a:pt x="0" y="689519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233</Words>
  <Application>Microsoft Office PowerPoint</Application>
  <PresentationFormat>Custom</PresentationFormat>
  <Paragraphs>40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Leckerli One</vt:lpstr>
      <vt:lpstr>Comic Sans Bold</vt:lpstr>
      <vt:lpstr>Calibri</vt:lpstr>
      <vt:lpstr>Comic Sans</vt:lpstr>
      <vt:lpstr>Adumu Regular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PPT</dc:title>
  <cp:lastModifiedBy>Argha Sarkar</cp:lastModifiedBy>
  <cp:revision>2</cp:revision>
  <dcterms:created xsi:type="dcterms:W3CDTF">2006-08-16T00:00:00Z</dcterms:created>
  <dcterms:modified xsi:type="dcterms:W3CDTF">2025-11-12T16:29:24Z</dcterms:modified>
  <dc:identifier>DAG4Z6NveAI</dc:identifier>
</cp:coreProperties>
</file>